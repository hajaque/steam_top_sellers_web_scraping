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</ns0:sldIdLst>
  <ns0:sldSz cx="12192000" cy="6858000" type="screen4x3"/>
  <ns0:notesSz cx="6858000" cy="9144000"/>
  <ns0:embeddedFontLst>
    <ns0:embeddedFont>
      <ns0:font typeface="Inter"/>
      <ns0:bold ns1:id="rIdFont22"/>
      <ns0:regular ns1:id="rIdFont23"/>
    </ns0:embeddedFont>
    <ns0:embeddedFont>
      <ns0:font typeface="JetBrains Mono"/>
      <ns0:bold ns1:id="rIdFont24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Font22" Type="http://schemas.openxmlformats.org/officeDocument/2006/relationships/font" Target="fonts/63d6dc5b-1455-4203-b1aa-d9be77f8f904.fntdata" /><ns0:Relationship Id="rIdFont23" Type="http://schemas.openxmlformats.org/officeDocument/2006/relationships/font" Target="fonts/78cf9232-b1dc-417c-b7ad-c316bc6a39b5.fntdata" /><ns0:Relationship Id="rIdFont24" Type="http://schemas.openxmlformats.org/officeDocument/2006/relationships/font" Target="fonts/2e80db6e-0004-49f9-863f-cd8ecaeee738.fntdata" /><ns0:Relationship Id="rIdFont25" Type="http://schemas.openxmlformats.org/officeDocument/2006/relationships/font" Target="fonts/17e1fb46-8039-4cae-8b7f-a7803134f45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562600"/>
            <a:ext cx="10972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56260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609600"/>
            <a:ext cx="3238500" cy="2952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133475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Inter"/>
              </a:rPr>
              <a:t>Steam Top Sellers: Data Mining &amp; Wrangling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63105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Multi-day web scraping, data pipeline engineering, quality restoration, and SQL warehousing of 3,377 Steam market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66750"/>
            <a:ext cx="30289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UCU • Faculty of Engineering, Design &amp;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500" y="676275"/>
            <a:ext cx="13430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DSC2107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838825"/>
            <a:ext cx="5441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PROJECT TEAM (GROUP 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67425"/>
            <a:ext cx="54411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Ajak Deng • Aponi Allan • Bulima Ezekiel • Baraka Ishara • Asio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5056" y="5876925"/>
            <a:ext cx="1607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975" i="0" u="none">
                <a:solidFill>
                  <a:srgbClr val="64748B"/>
                </a:solidFill>
                <a:latin typeface="Inter"/>
              </a:rPr>
              <a:t>SUBMISSION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5056" y="6067425"/>
            <a:ext cx="1607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125" i="0" u="none">
                <a:solidFill>
                  <a:srgbClr val="38BDF8"/>
                </a:solidFill>
                <a:latin typeface="Inter"/>
              </a:rPr>
              <a:t>19th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53100"/>
            <a:ext cx="10972800" cy="5715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00325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600325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00325"/>
            <a:ext cx="35052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943600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2876550"/>
            <a:ext cx="295275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2876550"/>
            <a:ext cx="295275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2876550"/>
            <a:ext cx="295275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91800" y="533400"/>
            <a:ext cx="12763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JetBrains Mono"/>
              </a:rPr>
              <a:t>3,377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1100" y="5957887"/>
            <a:ext cx="110109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Key Takeaway: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Merged raw datasets required strict mathematical validation to reconstruct missing discount metrics across 3,377 observational snapshots.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42925"/>
            <a:ext cx="6143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EXECUTIVE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52475"/>
            <a:ext cx="6450806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Data Mining Pipeline At A Glance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295650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7-Day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571875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Daily web scraping targeting 500 top-selling titles on Steam (13–19 Oct 2026).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295650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Quality Restoration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571875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Identified 2,074 missing original prices and recalculated zero-coverage discounts.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295650"/>
            <a:ext cx="383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Relational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571875"/>
            <a:ext cx="3048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Structured loading into MySQL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steam_data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warehouse for EDA.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959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52625"/>
            <a:ext cx="5181600" cy="3105150"/>
          </a:xfrm>
          <a:prstGeom prst="roundRect">
            <a:avLst>
              <a:gd name="adj" fmla="val 368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429125"/>
            <a:ext cx="4572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0" y="1952625"/>
            <a:ext cx="548640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0" y="3038475"/>
            <a:ext cx="548640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0" y="4124325"/>
            <a:ext cx="548640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257425"/>
            <a:ext cx="838200" cy="21907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429125"/>
            <a:ext cx="4572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0" y="1952625"/>
            <a:ext cx="38100" cy="933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0" y="3038475"/>
            <a:ext cx="38100" cy="933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0" y="4124325"/>
            <a:ext cx="38100" cy="933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6010275"/>
            <a:ext cx="110680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0F172A"/>
                </a:solidFill>
                <a:latin typeface="Inter"/>
              </a:rPr>
              <a:t>Group 7 • DSC2107 Project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PROJECT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429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Primary &amp; Specific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2295525"/>
            <a:ext cx="7429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MAIN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00325"/>
            <a:ext cx="6000750" cy="2723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FFFFFF"/>
                </a:solidFill>
                <a:latin typeface="Inter"/>
              </a:rPr>
              <a:t>End-to-End Data Engineering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86980"/>
            <a:ext cx="46672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Automate multi-day collection, cleaning, mathematical transformation, and relational warehousing of live e-commerce game metadata for market insights.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1050"/>
            <a:ext cx="5715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Target Output: Clean MySQL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2700" y="2143125"/>
            <a:ext cx="58293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1. Automated Scraping &amp; Merging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2700" y="2371725"/>
            <a:ext cx="50863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Collect 7 consecutive daily snapshots and unite them into a consolidated raw dataframe.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2700" y="3228975"/>
            <a:ext cx="58293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2. Quality Wrangling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2700" y="3457575"/>
            <a:ext cx="50863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Handle null prices, calculate missing discount rates, and isolate true duplicates from multi-day observations.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2700" y="4314825"/>
            <a:ext cx="58293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3. EDA &amp; Ethical Scraping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2700" y="4543425"/>
            <a:ext cx="50863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Generate visual trends while strictly respecting web server access policies and user-agent guidelines.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457825"/>
            <a:ext cx="10972800" cy="866775"/>
          </a:xfrm>
          <a:prstGeom prst="roundRect">
            <a:avLst>
              <a:gd name="adj" fmla="val 1098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76500"/>
            <a:ext cx="2600325" cy="16192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476500"/>
            <a:ext cx="2600325" cy="16192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476500"/>
            <a:ext cx="2600325" cy="16192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2476500"/>
            <a:ext cx="2600325" cy="161925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593" y="592455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081" y="5924550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168" y="5924550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0256" y="5924550"/>
            <a:ext cx="1333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429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Technology Stack &amp;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705100"/>
            <a:ext cx="2238375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9025" y="2705100"/>
            <a:ext cx="2238375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Wrangling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2705100"/>
            <a:ext cx="2238375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0675" y="2705100"/>
            <a:ext cx="2238375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695950"/>
            <a:ext cx="113442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DATA PIPELINE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2981325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Requests &amp; BS4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257550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Python HTTP requests &amp; HTML parsing targeting Steam Top Sellers pages.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8550" y="2981325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Pandas &amp; Jupyter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8550" y="3257550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Data merging, null auditing, deduplication, and formula calculations.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2981325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MySQL Workbench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9375" y="3257550"/>
            <a:ext cx="22193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Relational schema storage inside database 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steam_data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0200" y="2981325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Matplotlib / Seaborn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0200" y="3257550"/>
            <a:ext cx="22193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Visualization charts for price distribution and rating patterns.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5915025"/>
            <a:ext cx="12763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HTML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4212" y="5915025"/>
            <a:ext cx="12763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7x Daily CSVs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0700" y="5915025"/>
            <a:ext cx="1123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pd.concat()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24787" y="5915025"/>
            <a:ext cx="152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Wrangling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9875" y="5915025"/>
            <a:ext cx="1200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MySQL Import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43125"/>
            <a:ext cx="10972800" cy="2762250"/>
          </a:xfrm>
          <a:prstGeom prst="roundRect">
            <a:avLst>
              <a:gd name="adj" fmla="val 4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43125" y="2381250"/>
            <a:ext cx="9201150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43125" y="2724150"/>
            <a:ext cx="9201150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43125" y="3067050"/>
            <a:ext cx="9201150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43125" y="3409950"/>
            <a:ext cx="9201150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43125" y="3752850"/>
            <a:ext cx="9201150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43125" y="4095750"/>
            <a:ext cx="9201150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43125" y="4438650"/>
            <a:ext cx="9201150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43125" y="2381250"/>
            <a:ext cx="9201150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43125" y="2724150"/>
            <a:ext cx="9201150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3125" y="3067050"/>
            <a:ext cx="9201150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3125" y="3409950"/>
            <a:ext cx="9201150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43125" y="3752850"/>
            <a:ext cx="6937623" cy="228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43125" y="4095750"/>
            <a:ext cx="9201150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43125" y="4438650"/>
            <a:ext cx="9201150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5924550"/>
            <a:ext cx="11068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64748B"/>
                </a:solidFill>
                <a:latin typeface="Inter"/>
              </a:rPr>
              <a:t>Note: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Six runs met the 500-record capacity. Network interruptions on 17 October led to a shortened capture of 377 rows, generating a total raw dataset of </a:t>
            </a:r>
            <a:r>
              <a:rPr b="1" sz="1050" i="0" u="none">
                <a:solidFill>
                  <a:srgbClr val="64748B"/>
                </a:solidFill>
                <a:latin typeface="Inter"/>
              </a:rPr>
              <a:t>3,377 records</a:t>
            </a:r>
            <a:r>
              <a:rPr b="0" sz="1050" i="0" u="none">
                <a:solidFill>
                  <a:srgbClr val="64748B"/>
                </a:solidFill>
                <a:latin typeface="Inter"/>
              </a:rPr>
              <a:t> instead of 3,500.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8800" y="533400"/>
            <a:ext cx="2667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JetBrains Mono"/>
              </a:rPr>
              <a:t>Target Deficit: -123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42925"/>
            <a:ext cx="5417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DATA ACQUISITION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52475"/>
            <a:ext cx="568821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Daily Extraction Record Yield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414587"/>
            <a:ext cx="142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JetBrains Mono"/>
              </a:rPr>
              <a:t>13 Oct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2757487"/>
            <a:ext cx="142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JetBrains Mono"/>
              </a:rPr>
              <a:t>14 Oct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100387"/>
            <a:ext cx="142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JetBrains Mono"/>
              </a:rPr>
              <a:t>15 Oct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443287"/>
            <a:ext cx="142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JetBrains Mono"/>
              </a:rPr>
              <a:t>16 Oct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786187"/>
            <a:ext cx="142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F4444"/>
                </a:solidFill>
                <a:latin typeface="JetBrains Mono"/>
              </a:rPr>
              <a:t>17 Oct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4129087"/>
            <a:ext cx="142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JetBrains Mono"/>
              </a:rPr>
              <a:t>18 Oct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4471987"/>
            <a:ext cx="1428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JetBrains Mono"/>
              </a:rPr>
              <a:t>19 Oct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3125" y="2381250"/>
            <a:ext cx="91821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3125" y="2724150"/>
            <a:ext cx="91821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500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3125" y="3067050"/>
            <a:ext cx="91821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3125" y="3409950"/>
            <a:ext cx="91821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3125" y="3752850"/>
            <a:ext cx="6918573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377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3125" y="4095750"/>
            <a:ext cx="91821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3125" y="4438650"/>
            <a:ext cx="91821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500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29300"/>
            <a:ext cx="10972800" cy="495300"/>
          </a:xfrm>
          <a:prstGeom prst="roundRect">
            <a:avLst>
              <a:gd name="adj" fmla="val 1538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38387"/>
            <a:ext cx="10972800" cy="22669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338387"/>
          <a:ext cx="10963273" cy="22669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84908"/>
                <a:gridCol w="1812280"/>
                <a:gridCol w="1733847"/>
                <a:gridCol w="1633239"/>
                <a:gridCol w="3898999"/>
              </a:tblGrid>
              <a:tr h="45339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Column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Available Records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Missing Records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Null Proportion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Inter"/>
                        </a:rPr>
                        <a:t>Audit Notes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price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3,368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0.27%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Unlisted or unpriced promotional titles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original_price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1,303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EF4444"/>
                          </a:solidFill>
                          <a:latin typeface="Inter"/>
                        </a:rPr>
                        <a:t>2,074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61.41%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Missing for non-discounted full price titles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discount_percent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EF4444"/>
                          </a:solidFill>
                          <a:latin typeface="Inter"/>
                        </a:rPr>
                        <a:t>3,377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100.00%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Raw column totally unpopulated in html extract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review_summary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3,274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103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Inter"/>
                        </a:rPr>
                        <a:t>3.05%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Unreviewed or newly released games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DATA QUALITY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429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Pre-Cleaning Missing Value Inspection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5991225"/>
            <a:ext cx="11382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Inter"/>
              </a:rPr>
              <a:t>Critical Finding:</a:t>
            </a:r>
            <a:r>
              <a:rPr b="0" sz="1050" i="0" u="none">
                <a:solidFill>
                  <a:srgbClr val="991B1B"/>
                </a:solidFill>
                <a:latin typeface="Inter"/>
              </a:rPr>
              <a:t> </a:t>
            </a:r>
            <a:r>
              <a:rPr b="0" sz="1050" i="0" u="none">
                <a:solidFill>
                  <a:srgbClr val="991B1B"/>
                </a:solidFill>
                <a:latin typeface="Inter"/>
              </a:rPr>
              <a:t>discount_percent</a:t>
            </a:r>
            <a:r>
              <a:rPr b="0" sz="1050" i="0" u="none">
                <a:solidFill>
                  <a:srgbClr val="991B1B"/>
                </a:solidFill>
                <a:latin typeface="Inter"/>
              </a:rPr>
              <a:t> suffered 100% data absence at scrape time, requiring synthetic programmatic reconstruction from price fields.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4835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49574"/>
            <a:ext cx="5140076" cy="1863625"/>
          </a:xfrm>
          <a:prstGeom prst="roundRect">
            <a:avLst>
              <a:gd name="adj" fmla="val 61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54476" y="2452687"/>
            <a:ext cx="5527923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54476" y="3557587"/>
            <a:ext cx="5527923" cy="9525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082974"/>
            <a:ext cx="4606676" cy="72538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505" y="3273474"/>
            <a:ext cx="2944117" cy="3443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DATA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429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Algorithmic Reconstitution of Discounts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6005512"/>
            <a:ext cx="3988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Example Execution: $100 Original → $75 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77300" y="6000750"/>
            <a:ext cx="3143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Calculated Result: 25.0% Discount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816274"/>
            <a:ext cx="575834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JetBrains Mono"/>
              </a:rPr>
              <a:t>MATHEMATICAL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960762"/>
            <a:ext cx="5758346" cy="1857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Inter"/>
              </a:rPr>
              <a:t>Executed exclusively when 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Price_orig &gt; 0</a:t>
            </a:r>
            <a:r>
              <a:rPr b="0" sz="975" i="0" u="none">
                <a:solidFill>
                  <a:srgbClr val="94A3B8"/>
                </a:solidFill>
                <a:latin typeface="Inter"/>
              </a:rPr>
              <a:t> and valid numeric pairs exist.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501" y="2652712"/>
            <a:ext cx="593749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1. Filter Boundary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501" y="2881312"/>
            <a:ext cx="522312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Excludes free-to-play ($0) items and missing prices to prevent zero-division runtime errors.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501" y="3757612"/>
            <a:ext cx="593749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2. Preserve Null Distinction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501" y="3986212"/>
            <a:ext cx="522312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Non-discounted games are left as explicit NULLs rather than assumed 0% to avoid skewed distribution averages.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77215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01354"/>
            <a:ext cx="5372100" cy="1883866"/>
          </a:xfrm>
          <a:prstGeom prst="roundRect">
            <a:avLst>
              <a:gd name="adj" fmla="val 606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501354"/>
            <a:ext cx="5372100" cy="1883866"/>
          </a:xfrm>
          <a:prstGeom prst="roundRect">
            <a:avLst>
              <a:gd name="adj" fmla="val 606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3708945"/>
            <a:ext cx="48196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86525" y="3708945"/>
            <a:ext cx="48196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782341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782341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VALIDATION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429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Exact Duplicates vs Longitudinal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5967412"/>
            <a:ext cx="6786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Validation Rules Applied: No negative prices • Verified AppIDs • ISO 8601 Timestamps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5962650"/>
            <a:ext cx="190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Data Integrity: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130004"/>
            <a:ext cx="49149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Rows possessing identical attributes, timestamps, and game IDs scraped during duplicate execution passes were systematically dropped.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3130004"/>
            <a:ext cx="49149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Same-game entries appearing across different dates were explicitly retained to track daily price and sales rank fluctuations.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1575" y="2777579"/>
            <a:ext cx="30753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Removed: Identical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9650" y="3832770"/>
            <a:ext cx="5715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284C7"/>
                </a:solidFill>
                <a:latin typeface="JetBrains Mono"/>
              </a:rPr>
              <a:t>df.drop_duplicates(inplace=True)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275" y="2777579"/>
            <a:ext cx="316289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Retained: Longitudinal Ranks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0350" y="3832770"/>
            <a:ext cx="5581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6A34A"/>
                </a:solidFill>
                <a:latin typeface="JetBrains Mono"/>
              </a:rPr>
              <a:t>// Preserved for Time-Series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483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483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45387" y="2571750"/>
            <a:ext cx="4437012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45387" y="3657600"/>
            <a:ext cx="4437012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45387" y="2571750"/>
            <a:ext cx="38100" cy="933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45387" y="3657600"/>
            <a:ext cx="38100" cy="933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1650"/>
            <a:ext cx="6230987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781175"/>
            <a:ext cx="6211937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EXPLORATORY DATA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429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Price Distribution Across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72200"/>
            <a:ext cx="2857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Source Data: Figure 2 (Report Dataset)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06100" y="6172200"/>
            <a:ext cx="1162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EDA Finding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3987" y="2762250"/>
            <a:ext cx="48180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Low-Price Dominance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3987" y="2990850"/>
            <a:ext cx="411316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Concentrated spikes under $20 indicate top sellers are heavily driven by budget titles.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3987" y="3848100"/>
            <a:ext cx="48180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Genre Price Variance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3987" y="4076700"/>
            <a:ext cx="411316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Singleplayer and Action games showcase wider density tails extending up to $60–$70.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483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483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776412"/>
            <a:ext cx="4840485" cy="1790700"/>
          </a:xfrm>
          <a:prstGeom prst="roundRect">
            <a:avLst>
              <a:gd name="adj" fmla="val 63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757612"/>
            <a:ext cx="4840485" cy="1628775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885" y="1771650"/>
            <a:ext cx="5827514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410" y="1781175"/>
            <a:ext cx="5808464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MARKET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429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Monetization Model 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72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Research Insight:</a:t>
            </a:r>
            <a:r>
              <a:rPr b="0" sz="975" i="0" u="none">
                <a:solidFill>
                  <a:srgbClr val="64748B"/>
                </a:solidFill>
                <a:latin typeface="Inter"/>
              </a:rPr>
              <a:t> Though fewer in title counts, Free-to-Play games persistently hold top 10 positions due to high concurrent player engagement.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052637"/>
            <a:ext cx="5360044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0284C7"/>
                </a:solidFill>
                <a:latin typeface="Inter"/>
              </a:rPr>
              <a:t>86.6%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738437"/>
            <a:ext cx="536004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Paid Games Representation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967037"/>
            <a:ext cx="43832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Premium upfront titles dominate Steam's Top Seller revenue rankings.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033837"/>
            <a:ext cx="5360044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13.4%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719637"/>
            <a:ext cx="536004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Free-to-Play Titles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948237"/>
            <a:ext cx="536004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451 raw records maintained high rankings via microtransactions.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483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483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45387" y="2571750"/>
            <a:ext cx="4437012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45387" y="3657600"/>
            <a:ext cx="4437012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45387" y="2571750"/>
            <a:ext cx="38100" cy="9334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45387" y="3657600"/>
            <a:ext cx="38100" cy="9334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1650"/>
            <a:ext cx="6230987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781175"/>
            <a:ext cx="6211937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PROMOTIONAL DYNAMICS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429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Discount Percentage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72200"/>
            <a:ext cx="3321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Source Data: Figure 5 (Calculated Discounts)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7050" y="6172200"/>
            <a:ext cx="11811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EDA Finding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3987" y="2762250"/>
            <a:ext cx="48180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50% Discount Clustering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3987" y="2990850"/>
            <a:ext cx="411316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The single largest promotional peak occurs at exactly 50% off standard pricing.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3987" y="3848100"/>
            <a:ext cx="48180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75% Deep Markdown Peak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3987" y="4076700"/>
            <a:ext cx="411316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Secondary clustering at 75% marks aggressive publisher clearance strategies.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483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483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45387" y="2571750"/>
            <a:ext cx="4437012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45387" y="3657600"/>
            <a:ext cx="4437012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45387" y="2571750"/>
            <a:ext cx="38100" cy="9334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45387" y="3657600"/>
            <a:ext cx="38100" cy="933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1650"/>
            <a:ext cx="6230987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781175"/>
            <a:ext cx="6211937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TIME-SERIES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429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Average Daily Price Fluctuations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72200"/>
            <a:ext cx="2678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Source Data: Figure 3 (7-Day Trend)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77525" y="6172200"/>
            <a:ext cx="1190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Inter"/>
              </a:rPr>
              <a:t>EDA Finding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3987" y="2762250"/>
            <a:ext cx="48180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17 Oct Price Spike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3987" y="2990850"/>
            <a:ext cx="411316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Singleplayer titles surged past $32 average price due to high-tier AAA games entering top ranks.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3987" y="3848100"/>
            <a:ext cx="48180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Action &amp; Adventure Stability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3987" y="4076700"/>
            <a:ext cx="4113162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Action/Adventure categories maintained flat averages between $21 and $23 throughout the week.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29300"/>
            <a:ext cx="1097280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28900"/>
            <a:ext cx="5372100" cy="1685925"/>
          </a:xfrm>
          <a:prstGeom prst="roundRect">
            <a:avLst>
              <a:gd name="adj" fmla="val 564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628900"/>
            <a:ext cx="5372100" cy="1685925"/>
          </a:xfrm>
          <a:prstGeom prst="roundRect">
            <a:avLst>
              <a:gd name="adj" fmla="val 564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700" y="6019800"/>
            <a:ext cx="104775" cy="12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DATABASE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MySQL Warehousing &amp; Verification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5991225"/>
            <a:ext cx="3548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MySQL Table: </a:t>
            </a:r>
            <a:r>
              <a:rPr b="1" sz="1050" i="0" u="none">
                <a:solidFill>
                  <a:srgbClr val="0284C7"/>
                </a:solidFill>
                <a:latin typeface="Inter"/>
              </a:rPr>
              <a:t>steam_top_sellers_cleaned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1700" y="6000750"/>
            <a:ext cx="1988343" cy="1524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Inter"/>
              </a:rPr>
              <a:t>Verification Script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819400"/>
            <a:ext cx="6238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-- Target Database &amp; Table 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048000"/>
            <a:ext cx="6238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CREATE DATABASE steam_data;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209925"/>
            <a:ext cx="6238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USE steam_data;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571875"/>
            <a:ext cx="6238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-- Integrity Record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800475"/>
            <a:ext cx="6238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SELECT COUNT(*) AS total_records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962400"/>
            <a:ext cx="6238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FROM steam_top_sellers_cleaned;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19400"/>
            <a:ext cx="57912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-- Discount Population Audit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48000"/>
            <a:ext cx="5791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3209925"/>
            <a:ext cx="56769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COUNT(*) AS total_records,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371850"/>
            <a:ext cx="56769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COUNT(discount_percent) AS discounted,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3533775"/>
            <a:ext cx="56769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SUM(discount_percent IS NULL) AS standard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95700"/>
            <a:ext cx="5791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FROM steam_top_sellers_cleaned;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48375"/>
            <a:ext cx="109728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66379"/>
            <a:ext cx="5372100" cy="2230040"/>
          </a:xfrm>
          <a:prstGeom prst="roundRect">
            <a:avLst>
              <a:gd name="adj" fmla="val 427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466379"/>
            <a:ext cx="5372100" cy="2230040"/>
          </a:xfrm>
          <a:prstGeom prst="roundRect">
            <a:avLst>
              <a:gd name="adj" fmla="val 42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483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PROJECT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Engineering Challenges &amp; 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81000" y="6172200"/>
            <a:ext cx="12954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Responsible Scraping Adherence: Complied with User-Agent and request frequency throttling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704504"/>
            <a:ext cx="642580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Inter"/>
              </a:rPr>
              <a:t>Challenges Encountered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2704504"/>
            <a:ext cx="5743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Inter"/>
              </a:rPr>
              <a:t>Strategic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3019782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3018829"/>
            <a:ext cx="4819650" cy="47982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7F1D1D"/>
                </a:solidFill>
                <a:latin typeface="Inter"/>
              </a:rPr>
              <a:t>DNS Resolution Failures:</a:t>
            </a:r>
            <a:r>
              <a:rPr b="0" sz="1050" i="0" u="none">
                <a:solidFill>
                  <a:srgbClr val="7F1D1D"/>
                </a:solidFill>
                <a:latin typeface="Inter"/>
              </a:rPr>
              <a:t> Connection breaks during store.steampowered.com requests.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" y="3499604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3498651"/>
            <a:ext cx="4819650" cy="47982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7F1D1D"/>
                </a:solidFill>
                <a:latin typeface="Inter"/>
              </a:rPr>
              <a:t>Data Capture Loss:</a:t>
            </a:r>
            <a:r>
              <a:rPr b="0" sz="1050" i="0" u="none">
                <a:solidFill>
                  <a:srgbClr val="7F1D1D"/>
                </a:solidFill>
                <a:latin typeface="Inter"/>
              </a:rPr>
              <a:t> 17 Oct run dropped 123 rows due to early network timeouts.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" y="3979425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3978473"/>
            <a:ext cx="4819650" cy="47982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7F1D1D"/>
                </a:solidFill>
                <a:latin typeface="Inter"/>
              </a:rPr>
              <a:t>Empty Scraped Attributes:</a:t>
            </a:r>
            <a:r>
              <a:rPr b="0" sz="1050" i="0" u="none">
                <a:solidFill>
                  <a:srgbClr val="7F1D1D"/>
                </a:solidFill>
                <a:latin typeface="Inter"/>
              </a:rPr>
              <a:t> Raw discount columns required complete programmatic calculation.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675" y="3019782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9875" y="3018829"/>
            <a:ext cx="4819650" cy="47982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14532D"/>
                </a:solidFill>
                <a:latin typeface="Inter"/>
              </a:rPr>
              <a:t>Automated Retries:</a:t>
            </a:r>
            <a:r>
              <a:rPr b="0" sz="1050" i="0" u="none">
                <a:solidFill>
                  <a:srgbClr val="14532D"/>
                </a:solidFill>
                <a:latin typeface="Inter"/>
              </a:rPr>
              <a:t> Implement exponential backoff for HTTP scraper resilience.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3675" y="3499604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9875" y="3498651"/>
            <a:ext cx="5572125" cy="23991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14532D"/>
                </a:solidFill>
                <a:latin typeface="Inter"/>
              </a:rPr>
              <a:t>Preserve Raw Files:</a:t>
            </a:r>
            <a:r>
              <a:rPr b="0" sz="1050" i="0" u="none">
                <a:solidFill>
                  <a:srgbClr val="14532D"/>
                </a:solidFill>
                <a:latin typeface="Inter"/>
              </a:rPr>
              <a:t> Keep original CSV outputs to allow lineage auditing.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675" y="3739515"/>
            <a:ext cx="7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5" y="3738562"/>
            <a:ext cx="4819650" cy="479821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14532D"/>
                </a:solidFill>
                <a:latin typeface="Inter"/>
              </a:rPr>
              <a:t>Unique Game ID Normalization:</a:t>
            </a:r>
            <a:r>
              <a:rPr b="0" sz="1050" i="0" u="none">
                <a:solidFill>
                  <a:srgbClr val="14532D"/>
                </a:solidFill>
                <a:latin typeface="Inter"/>
              </a:rPr>
              <a:t> Isolate daily observations from unique game counts during EDA.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5425" y="2281237"/>
            <a:ext cx="1581150" cy="2952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52950" y="4195762"/>
            <a:ext cx="1238250" cy="381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0" y="4195762"/>
            <a:ext cx="1695450" cy="3810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60181" y="2338387"/>
            <a:ext cx="167163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Inter"/>
              </a:rPr>
              <a:t>Project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0496" y="2805112"/>
            <a:ext cx="8051006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Inter"/>
              </a:rPr>
              <a:t>Thank You!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5328" y="3605212"/>
            <a:ext cx="694134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Steam Top Sellers Data Mining &amp; Wrangling Report •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8668" y="4291012"/>
            <a:ext cx="116681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JetBrains Mono"/>
              </a:rPr>
              <a:t>UCU DSC2107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2168" y="4291012"/>
            <a:ext cx="173831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JetBrains Mono"/>
              </a:rPr>
              <a:t>MySQL: steam_data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